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6009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3D0A18"/>
          </a:solidFill>
          <a:ln/>
        </p:spPr>
        <p:txBody>
          <a:bodyPr/>
          <a:lstStyle/>
          <a:p>
            <a:endParaRPr lang="es-AR" dirty="0"/>
          </a:p>
        </p:txBody>
      </p:sp>
      <p:pic>
        <p:nvPicPr>
          <p:cNvPr id="4" name="Image 0" descr="/home/claude/pitch/icons/pelicula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9456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6576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CINEFLOW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822960" y="43434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gestion para cines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760720" y="137160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venta manual en boletería</a:t>
            </a:r>
            <a:endParaRPr lang="en-US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 sistema de autoservicio y gestion.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552901" y="5475315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Grupo: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Reyes y Ramos Gala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Pabon, Gabriel.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552901" y="6213763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Materia: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Interactivas.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493776"/>
            <a:ext cx="113579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Comprar una entrada de cine</a:t>
            </a:r>
            <a:r>
              <a:rPr lang="en-US" sz="3000" dirty="0"/>
              <a:t> </a:t>
            </a:r>
            <a:r>
              <a:rPr lang="en-US" sz="3000" b="1" dirty="0" err="1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sigue</a:t>
            </a: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siendo mas lento de lo necesario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53440" y="2459736"/>
            <a:ext cx="384048" cy="384048"/>
          </a:xfrm>
          <a:prstGeom prst="ellipse">
            <a:avLst/>
          </a:prstGeom>
          <a:solidFill>
            <a:srgbClr val="7A1330"/>
          </a:solidFill>
          <a:ln/>
        </p:spPr>
      </p:sp>
      <p:sp>
        <p:nvSpPr>
          <p:cNvPr id="5" name="Text 3"/>
          <p:cNvSpPr/>
          <p:nvPr/>
        </p:nvSpPr>
        <p:spPr>
          <a:xfrm>
            <a:off x="853440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02080" y="243230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en boletería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02080" y="2798064"/>
            <a:ext cx="938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espera para algo que podría resolver solo, en segundos, desde una pantalla.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53440" y="3648456"/>
            <a:ext cx="384048" cy="384048"/>
          </a:xfrm>
          <a:prstGeom prst="ellipse">
            <a:avLst/>
          </a:prstGeom>
          <a:solidFill>
            <a:srgbClr val="7A1330"/>
          </a:solidFill>
          <a:ln/>
        </p:spPr>
      </p:sp>
      <p:sp>
        <p:nvSpPr>
          <p:cNvPr id="9" name="Text 7"/>
          <p:cNvSpPr/>
          <p:nvPr/>
        </p:nvSpPr>
        <p:spPr>
          <a:xfrm>
            <a:off x="85344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02080" y="362102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cartelera a mano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02079" y="3986784"/>
            <a:ext cx="919664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 sistema central, cada función, sala y película se gestiona de forma desordenada.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53440" y="4837176"/>
            <a:ext cx="384048" cy="384048"/>
          </a:xfrm>
          <a:prstGeom prst="ellipse">
            <a:avLst/>
          </a:prstGeom>
          <a:solidFill>
            <a:srgbClr val="7A1330"/>
          </a:solidFill>
          <a:ln/>
        </p:spPr>
      </p:sp>
      <p:sp>
        <p:nvSpPr>
          <p:cNvPr id="13" name="Text 11"/>
          <p:cNvSpPr/>
          <p:nvPr/>
        </p:nvSpPr>
        <p:spPr>
          <a:xfrm>
            <a:off x="853440" y="4837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02080" y="480974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control de stock ni butacas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02080" y="5175504"/>
            <a:ext cx="91966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Vender una butaca ya ocupada, o un producto sin stock, es un error humano evitable.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144000" y="28803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cine tiene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datos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resolverlo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software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RESUELVE LA APLICACIÓN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experiencias, un mismo sistema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57400"/>
            <a:ext cx="685800" cy="685800"/>
          </a:xfrm>
          <a:prstGeom prst="ellipse">
            <a:avLst/>
          </a:prstGeom>
          <a:solidFill>
            <a:srgbClr val="7A1330"/>
          </a:solidFill>
          <a:ln/>
        </p:spPr>
      </p:sp>
      <p:pic>
        <p:nvPicPr>
          <p:cNvPr id="6" name="Image 0" descr="/home/claude/pitch/icons/tick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21284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Autoservicio del cliente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60120" y="288036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elige película, función y butaca desde una pantalla, carga los datos de su tarjeta y se lleva su entrada, sin pasar por boletería.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4069080"/>
            <a:ext cx="320040" cy="320040"/>
          </a:xfrm>
          <a:prstGeom prst="rect">
            <a:avLst/>
          </a:prstGeom>
          <a:solidFill>
            <a:srgbClr val="7A13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417320" y="4069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película y función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0120" y="4526280"/>
            <a:ext cx="320040" cy="320040"/>
          </a:xfrm>
          <a:prstGeom prst="rect">
            <a:avLst/>
          </a:prstGeom>
          <a:solidFill>
            <a:srgbClr val="7A13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417320" y="4526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butaca disponible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60120" y="4983480"/>
            <a:ext cx="320040" cy="320040"/>
          </a:xfrm>
          <a:prstGeom prst="rect">
            <a:avLst/>
          </a:prstGeom>
          <a:solidFill>
            <a:srgbClr val="7A13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417320" y="49834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 con tarjeta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60120" y="5440680"/>
            <a:ext cx="320040" cy="320040"/>
          </a:xfrm>
          <a:prstGeom prst="rect">
            <a:avLst/>
          </a:prstGeom>
          <a:solidFill>
            <a:srgbClr val="7A13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417320" y="5440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Retirar el ticket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2648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C1C1C"/>
          </a:solidFill>
          <a:ln/>
        </p:spPr>
      </p:sp>
      <p:sp>
        <p:nvSpPr>
          <p:cNvPr id="18" name="Shape 15"/>
          <p:cNvSpPr/>
          <p:nvPr/>
        </p:nvSpPr>
        <p:spPr>
          <a:xfrm>
            <a:off x="6446520" y="2057400"/>
            <a:ext cx="685800" cy="68580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9" name="Image 1" descr="/home/claude/pitch/icons/admin_charco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2212848"/>
            <a:ext cx="384048" cy="38404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31520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administrativa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6446520" y="288036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B8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administradores cargan películas, salas, funciones y productos del kiosco. Un administrador "padre" controla quién puede administrar el sistema.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446520" y="4069080"/>
            <a:ext cx="320040" cy="32004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903720" y="4069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y editar películas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6446520" y="4526280"/>
            <a:ext cx="320040" cy="32004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903720" y="4526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funciones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6446520" y="4983480"/>
            <a:ext cx="320040" cy="32004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903720" y="49834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Administrar el kiosco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6446520" y="5440680"/>
            <a:ext cx="320040" cy="32004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6903720" y="54406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nuevos admins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DEL SISTEMA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niveles de acceso, cada uno con su alcance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7A1330"/>
          </a:solidFill>
          <a:ln/>
        </p:spPr>
      </p:sp>
      <p:sp>
        <p:nvSpPr>
          <p:cNvPr id="5" name="Shape 3"/>
          <p:cNvSpPr/>
          <p:nvPr/>
        </p:nvSpPr>
        <p:spPr>
          <a:xfrm>
            <a:off x="1943100" y="2194560"/>
            <a:ext cx="914400" cy="91440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6" name="Image 0" descr="/home/claude/pitch/icons/cliente_charco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980" y="23774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3375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960120" y="393192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entradas por autoservicio. Se registra solo, con usuario, contraseña y DNI.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480560" y="182880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5C1226"/>
          </a:solidFill>
          <a:ln/>
        </p:spPr>
      </p:sp>
      <p:sp>
        <p:nvSpPr>
          <p:cNvPr id="10" name="Shape 7"/>
          <p:cNvSpPr/>
          <p:nvPr/>
        </p:nvSpPr>
        <p:spPr>
          <a:xfrm>
            <a:off x="5783580" y="2194560"/>
            <a:ext cx="914400" cy="91440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1" name="Image 1" descr="/home/claude/pitch/icons/admin_charco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460" y="237744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3375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4800600" y="4089169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películas, salas, funciones y productos. Lo registra el admin padre.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321040" y="182880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1C1C1C"/>
          </a:solidFill>
          <a:ln/>
        </p:spPr>
      </p:sp>
      <p:sp>
        <p:nvSpPr>
          <p:cNvPr id="15" name="Shape 11"/>
          <p:cNvSpPr/>
          <p:nvPr/>
        </p:nvSpPr>
        <p:spPr>
          <a:xfrm>
            <a:off x="9624060" y="2194560"/>
            <a:ext cx="914400" cy="91440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6" name="Image 2" descr="/home/claude/pitch/icons/admin_padre_charco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6940" y="237744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35433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 "padre"</a:t>
            </a:r>
            <a:endParaRPr lang="en-US" sz="3200" dirty="0"/>
          </a:p>
        </p:txBody>
      </p:sp>
      <p:sp>
        <p:nvSpPr>
          <p:cNvPr id="18" name="Text 13"/>
          <p:cNvSpPr/>
          <p:nvPr/>
        </p:nvSpPr>
        <p:spPr>
          <a:xfrm>
            <a:off x="8641080" y="4155948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Viene precargado con usuario y contraseña propios. Registra a los demás administradores.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PRINCIPALES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de datos, en tres grupos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2B2B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03120"/>
            <a:ext cx="594360" cy="594360"/>
          </a:xfrm>
          <a:prstGeom prst="ellipse">
            <a:avLst/>
          </a:prstGeom>
          <a:solidFill>
            <a:srgbClr val="7A1330"/>
          </a:solidFill>
          <a:ln/>
        </p:spPr>
      </p:sp>
      <p:pic>
        <p:nvPicPr>
          <p:cNvPr id="6" name="Image 0" descr="/home/claude/pitch/icons/cliente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23113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48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14400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(base)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14400" y="3355848"/>
            <a:ext cx="2971800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5387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14400" y="3922776"/>
            <a:ext cx="2971800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410565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14400" y="4489704"/>
            <a:ext cx="2971800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80560" y="18288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2B2B2B"/>
          </a:solidFill>
          <a:ln/>
        </p:spPr>
      </p:sp>
      <p:sp>
        <p:nvSpPr>
          <p:cNvPr id="15" name="Shape 12"/>
          <p:cNvSpPr/>
          <p:nvPr/>
        </p:nvSpPr>
        <p:spPr>
          <a:xfrm>
            <a:off x="4754880" y="2103120"/>
            <a:ext cx="594360" cy="594360"/>
          </a:xfrm>
          <a:prstGeom prst="ellipse">
            <a:avLst/>
          </a:prstGeom>
          <a:solidFill>
            <a:srgbClr val="7A1330"/>
          </a:solidFill>
          <a:ln/>
        </p:spPr>
      </p:sp>
      <p:pic>
        <p:nvPicPr>
          <p:cNvPr id="16" name="Image 1" descr="/home/claude/pitch/icons/pelicula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2231136"/>
            <a:ext cx="338328" cy="33832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86400" y="2148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4754880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Película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4754880" y="3355848"/>
            <a:ext cx="2971800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754880" y="35387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4754880" y="3922776"/>
            <a:ext cx="2971800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754880" y="410565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Butaca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4754880" y="4489704"/>
            <a:ext cx="2971800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AR" dirty="0"/>
          </a:p>
        </p:txBody>
      </p:sp>
      <p:sp>
        <p:nvSpPr>
          <p:cNvPr id="24" name="Text 20"/>
          <p:cNvSpPr/>
          <p:nvPr/>
        </p:nvSpPr>
        <p:spPr>
          <a:xfrm>
            <a:off x="4754880" y="467258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4754880" y="5056632"/>
            <a:ext cx="2971800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321040" y="18288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2B2B2B"/>
          </a:solidFill>
          <a:ln/>
        </p:spPr>
      </p:sp>
      <p:sp>
        <p:nvSpPr>
          <p:cNvPr id="27" name="Shape 23"/>
          <p:cNvSpPr/>
          <p:nvPr/>
        </p:nvSpPr>
        <p:spPr>
          <a:xfrm>
            <a:off x="8595360" y="2103120"/>
            <a:ext cx="594360" cy="594360"/>
          </a:xfrm>
          <a:prstGeom prst="ellipse">
            <a:avLst/>
          </a:prstGeom>
          <a:solidFill>
            <a:srgbClr val="7A1330"/>
          </a:solidFill>
          <a:ln/>
        </p:spPr>
      </p:sp>
      <p:pic>
        <p:nvPicPr>
          <p:cNvPr id="28" name="Image 2" descr="/home/claude/pitch/icons/reserva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3376" y="2231136"/>
            <a:ext cx="338328" cy="33832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326880" y="2148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2400" dirty="0"/>
          </a:p>
        </p:txBody>
      </p:sp>
      <p:sp>
        <p:nvSpPr>
          <p:cNvPr id="30" name="Text 25"/>
          <p:cNvSpPr/>
          <p:nvPr/>
        </p:nvSpPr>
        <p:spPr>
          <a:xfrm>
            <a:off x="8595360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600" dirty="0"/>
          </a:p>
        </p:txBody>
      </p:sp>
      <p:sp>
        <p:nvSpPr>
          <p:cNvPr id="31" name="Shape 26"/>
          <p:cNvSpPr/>
          <p:nvPr/>
        </p:nvSpPr>
        <p:spPr>
          <a:xfrm>
            <a:off x="8595360" y="3355848"/>
            <a:ext cx="2971800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595360" y="35387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</a:t>
            </a:r>
            <a:endParaRPr lang="en-US" sz="1600" dirty="0"/>
          </a:p>
        </p:txBody>
      </p:sp>
      <p:sp>
        <p:nvSpPr>
          <p:cNvPr id="33" name="Shape 28"/>
          <p:cNvSpPr/>
          <p:nvPr/>
        </p:nvSpPr>
        <p:spPr>
          <a:xfrm>
            <a:off x="8595360" y="3922776"/>
            <a:ext cx="2971800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8595360" y="410565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600" dirty="0"/>
          </a:p>
        </p:txBody>
      </p:sp>
      <p:sp>
        <p:nvSpPr>
          <p:cNvPr id="35" name="Shape 30"/>
          <p:cNvSpPr/>
          <p:nvPr/>
        </p:nvSpPr>
        <p:spPr>
          <a:xfrm>
            <a:off x="8595360" y="4489704"/>
            <a:ext cx="2971800" cy="0"/>
          </a:xfrm>
          <a:prstGeom prst="line">
            <a:avLst/>
          </a:prstGeom>
          <a:noFill/>
          <a:ln w="9525">
            <a:solidFill>
              <a:srgbClr val="444444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8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relaciona Película + Sala. Ticket relaciona Función + Butaca + Reserva. Reserva pertenece a un Cliente.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IMPLEMENTAMOS EL CRUD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en capas: Spring Boot + JPA + MySQL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7A1330"/>
          </a:solidFill>
          <a:ln/>
        </p:spPr>
        <p:txBody>
          <a:bodyPr/>
          <a:lstStyle/>
          <a:p>
            <a:endParaRPr lang="es-AR" dirty="0"/>
          </a:p>
        </p:txBody>
      </p:sp>
      <p:sp>
        <p:nvSpPr>
          <p:cNvPr id="5" name="Text 3"/>
          <p:cNvSpPr/>
          <p:nvPr/>
        </p:nvSpPr>
        <p:spPr>
          <a:xfrm>
            <a:off x="725424" y="2199548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25424" y="2607703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MX" sz="1400" dirty="0">
                <a:solidFill>
                  <a:schemeClr val="bg1"/>
                </a:solidFill>
              </a:rPr>
              <a:t>Captura la acción del cliente cuando elige comprar una entrada para "El Padrino"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172968" y="2679192"/>
            <a:ext cx="219456" cy="219456"/>
          </a:xfrm>
          <a:prstGeom prst="rightArrow">
            <a:avLst/>
          </a:prstGeom>
          <a:solidFill>
            <a:srgbClr val="999999"/>
          </a:solidFill>
          <a:ln/>
        </p:spPr>
      </p:sp>
      <p:sp>
        <p:nvSpPr>
          <p:cNvPr id="8" name="Shape 6"/>
          <p:cNvSpPr/>
          <p:nvPr/>
        </p:nvSpPr>
        <p:spPr>
          <a:xfrm>
            <a:off x="3410712" y="21031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C1C1C"/>
          </a:solidFill>
          <a:ln/>
        </p:spPr>
      </p:sp>
      <p:sp>
        <p:nvSpPr>
          <p:cNvPr id="9" name="Text 7"/>
          <p:cNvSpPr/>
          <p:nvPr/>
        </p:nvSpPr>
        <p:spPr>
          <a:xfrm>
            <a:off x="3524596" y="2144129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86081" y="2628761"/>
            <a:ext cx="2642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MX" sz="1400" dirty="0">
                <a:solidFill>
                  <a:schemeClr val="bg1"/>
                </a:solidFill>
              </a:rPr>
              <a:t> Verifica en tiempo real que la butaca "C4" esté libre y suma el precio del combo de pochoclos al total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943600" y="2679192"/>
            <a:ext cx="219456" cy="219456"/>
          </a:xfrm>
          <a:prstGeom prst="rightArrow">
            <a:avLst/>
          </a:prstGeom>
          <a:solidFill>
            <a:srgbClr val="999999"/>
          </a:solidFill>
          <a:ln/>
        </p:spPr>
      </p:sp>
      <p:sp>
        <p:nvSpPr>
          <p:cNvPr id="12" name="Shape 10"/>
          <p:cNvSpPr/>
          <p:nvPr/>
        </p:nvSpPr>
        <p:spPr>
          <a:xfrm>
            <a:off x="6181344" y="21031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7A1330"/>
          </a:solidFill>
          <a:ln/>
        </p:spPr>
      </p:sp>
      <p:sp>
        <p:nvSpPr>
          <p:cNvPr id="13" name="Text 11"/>
          <p:cNvSpPr/>
          <p:nvPr/>
        </p:nvSpPr>
        <p:spPr>
          <a:xfrm>
            <a:off x="6345936" y="2144129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27648" y="2628761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MX" sz="1400" dirty="0">
                <a:solidFill>
                  <a:schemeClr val="bg1"/>
                </a:solidFill>
              </a:rPr>
              <a:t>Inserta el recibo final de la venta en la base de datos sin necesidad de escribir código SQL manual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714232" y="2679192"/>
            <a:ext cx="219456" cy="219456"/>
          </a:xfrm>
          <a:prstGeom prst="rightArrow">
            <a:avLst/>
          </a:prstGeom>
          <a:solidFill>
            <a:srgbClr val="999999"/>
          </a:solidFill>
          <a:ln/>
        </p:spPr>
      </p:sp>
      <p:sp>
        <p:nvSpPr>
          <p:cNvPr id="16" name="Shape 14"/>
          <p:cNvSpPr/>
          <p:nvPr/>
        </p:nvSpPr>
        <p:spPr>
          <a:xfrm>
            <a:off x="8951976" y="21031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C1C1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9116568" y="226771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16568" y="2651760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 </a:t>
            </a:r>
            <a:r>
              <a:rPr lang="en-US" sz="1400" dirty="0" err="1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</a:t>
            </a:r>
            <a:r>
              <a:rPr lang="en-US" sz="140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pelicula</a:t>
            </a:r>
            <a:r>
              <a:rPr lang="en-US" sz="140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cuatro operaciones CRUD, mapeadas a este flujo: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0080" y="42976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3EFE8"/>
          </a:solidFill>
          <a:ln/>
        </p:spPr>
      </p:sp>
      <p:pic>
        <p:nvPicPr>
          <p:cNvPr id="21" name="Image 0" descr="/home/claude/pitch/icons/create_maro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480560"/>
            <a:ext cx="365760" cy="3657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80160" y="4480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822960" y="49377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película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un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429000" y="42976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3EFE8"/>
          </a:solidFill>
          <a:ln/>
        </p:spPr>
      </p:sp>
      <p:pic>
        <p:nvPicPr>
          <p:cNvPr id="25" name="Image 1" descr="/home/claude/pitch/icons/read_maro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4480560"/>
            <a:ext cx="365760" cy="36576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069080" y="4480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3611880" y="49377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 la cartelera, buscar una función por código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6217920" y="42976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3EFE8"/>
          </a:solidFill>
          <a:ln/>
        </p:spPr>
      </p:sp>
      <p:pic>
        <p:nvPicPr>
          <p:cNvPr id="29" name="Image 2" descr="/home/claude/pitch/icons/update_maro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480560"/>
            <a:ext cx="365760" cy="36576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858000" y="4480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2000" dirty="0"/>
          </a:p>
        </p:txBody>
      </p:sp>
      <p:sp>
        <p:nvSpPr>
          <p:cNvPr id="31" name="Text 26"/>
          <p:cNvSpPr/>
          <p:nvPr/>
        </p:nvSpPr>
        <p:spPr>
          <a:xfrm>
            <a:off x="6400800" y="49377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una película, descontar stock</a:t>
            </a:r>
            <a:endParaRPr lang="en-US" sz="1600" dirty="0"/>
          </a:p>
        </p:txBody>
      </p:sp>
      <p:sp>
        <p:nvSpPr>
          <p:cNvPr id="32" name="Shape 27"/>
          <p:cNvSpPr/>
          <p:nvPr/>
        </p:nvSpPr>
        <p:spPr>
          <a:xfrm>
            <a:off x="9006840" y="42976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3EFE8"/>
          </a:solidFill>
          <a:ln/>
        </p:spPr>
      </p:sp>
      <p:pic>
        <p:nvPicPr>
          <p:cNvPr id="33" name="Image 3" descr="/home/claude/pitch/icons/delete_maro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0" y="4480560"/>
            <a:ext cx="365760" cy="36576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646920" y="4480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2000" dirty="0"/>
          </a:p>
        </p:txBody>
      </p:sp>
      <p:sp>
        <p:nvSpPr>
          <p:cNvPr id="35" name="Text 29"/>
          <p:cNvSpPr/>
          <p:nvPr/>
        </p:nvSpPr>
        <p:spPr>
          <a:xfrm>
            <a:off x="9189720" y="49377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</a:t>
            </a: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producto, cancelar una reserva</a:t>
            </a:r>
            <a:endParaRPr lang="en-US" sz="1600" dirty="0"/>
          </a:p>
        </p:txBody>
      </p:sp>
      <p:sp>
        <p:nvSpPr>
          <p:cNvPr id="36" name="Text 30"/>
          <p:cNvSpPr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(ID) se autogenera con @GeneratedValue en la mayoría de las entidades; Sala, Usuario y Butaca usan claves naturales asignadas a mano.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puede hacer cada rol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078923"/>
              </p:ext>
            </p:extLst>
          </p:nvPr>
        </p:nvGraphicFramePr>
        <p:xfrm>
          <a:off x="640080" y="1737360"/>
          <a:ext cx="10881360" cy="420624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de uso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Administrador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padre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Registrarse / iniciar sesión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 precargado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 cartelera y funciones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Comprar entrada (autoservicio)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Cargar película / sala / función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Gestionar productos del kiosco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 nuevos administradores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Cancelar una reserva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(propia)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DESTACADO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Comprar una entrada por autoservicio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2B2B2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pic>
        <p:nvPicPr>
          <p:cNvPr id="6" name="Image 0" descr="/home/claude/pitch/icons/pelicula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340" y="292608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388620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película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04672" y="448056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B8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Cartelera con funciones disponibles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264408" y="3611880"/>
            <a:ext cx="182880" cy="274320"/>
          </a:xfrm>
          <a:prstGeom prst="rightArrow">
            <a:avLst/>
          </a:prstGeom>
          <a:solidFill>
            <a:srgbClr val="D4AF37"/>
          </a:solidFill>
          <a:ln/>
        </p:spPr>
      </p:sp>
      <p:sp>
        <p:nvSpPr>
          <p:cNvPr id="10" name="Shape 7"/>
          <p:cNvSpPr/>
          <p:nvPr/>
        </p:nvSpPr>
        <p:spPr>
          <a:xfrm>
            <a:off x="3465576" y="21031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2B2B2B"/>
          </a:solidFill>
          <a:ln/>
        </p:spPr>
      </p:sp>
      <p:sp>
        <p:nvSpPr>
          <p:cNvPr id="11" name="Text 8"/>
          <p:cNvSpPr/>
          <p:nvPr/>
        </p:nvSpPr>
        <p:spPr>
          <a:xfrm>
            <a:off x="3648456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pic>
        <p:nvPicPr>
          <p:cNvPr id="12" name="Image 1" descr="/home/claude/pitch/icons/ticket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2836" y="2926080"/>
            <a:ext cx="731520" cy="7315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0168" y="388620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función y butaca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3630168" y="448056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B8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valida disponibilidad en tiempo real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089904" y="3611880"/>
            <a:ext cx="182880" cy="274320"/>
          </a:xfrm>
          <a:prstGeom prst="rightArrow">
            <a:avLst/>
          </a:prstGeom>
          <a:solidFill>
            <a:srgbClr val="D4AF37"/>
          </a:solidFill>
          <a:ln/>
        </p:spPr>
      </p:sp>
      <p:sp>
        <p:nvSpPr>
          <p:cNvPr id="16" name="Shape 12"/>
          <p:cNvSpPr/>
          <p:nvPr/>
        </p:nvSpPr>
        <p:spPr>
          <a:xfrm>
            <a:off x="6291072" y="21031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2B2B2B"/>
          </a:solidFill>
          <a:ln/>
        </p:spPr>
      </p:sp>
      <p:sp>
        <p:nvSpPr>
          <p:cNvPr id="17" name="Text 13"/>
          <p:cNvSpPr/>
          <p:nvPr/>
        </p:nvSpPr>
        <p:spPr>
          <a:xfrm>
            <a:off x="647395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7525512" y="230428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4A3A12"/>
          </a:solidFill>
          <a:ln/>
        </p:spPr>
      </p:sp>
      <p:sp>
        <p:nvSpPr>
          <p:cNvPr id="19" name="Text 15"/>
          <p:cNvSpPr/>
          <p:nvPr/>
        </p:nvSpPr>
        <p:spPr>
          <a:xfrm>
            <a:off x="7525512" y="230428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900" dirty="0"/>
          </a:p>
        </p:txBody>
      </p:sp>
      <p:pic>
        <p:nvPicPr>
          <p:cNvPr id="20" name="Image 2" descr="/home/claude/pitch/icons/tarjeta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8332" y="2926080"/>
            <a:ext cx="731520" cy="7315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55664" y="388620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datos de tarjeta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6455664" y="448056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de implementar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8915400" y="3611880"/>
            <a:ext cx="182880" cy="274320"/>
          </a:xfrm>
          <a:prstGeom prst="rightArrow">
            <a:avLst/>
          </a:prstGeom>
          <a:solidFill>
            <a:srgbClr val="D4AF37"/>
          </a:solidFill>
          <a:ln/>
        </p:spPr>
      </p:sp>
      <p:sp>
        <p:nvSpPr>
          <p:cNvPr id="24" name="Shape 19"/>
          <p:cNvSpPr/>
          <p:nvPr/>
        </p:nvSpPr>
        <p:spPr>
          <a:xfrm>
            <a:off x="9116568" y="21031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2B2B2B"/>
          </a:solidFill>
          <a:ln/>
        </p:spPr>
      </p:sp>
      <p:sp>
        <p:nvSpPr>
          <p:cNvPr id="25" name="Text 20"/>
          <p:cNvSpPr/>
          <p:nvPr/>
        </p:nvSpPr>
        <p:spPr>
          <a:xfrm>
            <a:off x="9299448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pic>
        <p:nvPicPr>
          <p:cNvPr id="26" name="Image 3" descr="/home/claude/pitch/icons/reserva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3828" y="2926080"/>
            <a:ext cx="731520" cy="7315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281160" y="388620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reserva</a:t>
            </a:r>
            <a:endParaRPr lang="en-US" sz="2400" dirty="0"/>
          </a:p>
        </p:txBody>
      </p:sp>
      <p:sp>
        <p:nvSpPr>
          <p:cNvPr id="28" name="Text 22"/>
          <p:cNvSpPr/>
          <p:nvPr/>
        </p:nvSpPr>
        <p:spPr>
          <a:xfrm>
            <a:off x="9281160" y="448056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B8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generan la Reserva y sus Tickets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verificación de butaca disponible ya funciona: nunca se vende dos veces el mismo asiento. El cobro con tarjeta es el próximo paso a integrar.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3D0A18"/>
          </a:solidFill>
          <a:ln/>
        </p:spPr>
      </p:sp>
      <p:pic>
        <p:nvPicPr>
          <p:cNvPr id="4" name="Image 0" descr="/home/claude/pitch/icons/pelicula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39142"/>
            <a:ext cx="1518458" cy="15184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2850" y="3588327"/>
            <a:ext cx="4635731" cy="1057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655</Words>
  <Application>Microsoft Office PowerPoint</Application>
  <PresentationFormat>Panorámica</PresentationFormat>
  <Paragraphs>154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REYES Y RAMOS GALA MACARENA</cp:lastModifiedBy>
  <cp:revision>3</cp:revision>
  <dcterms:created xsi:type="dcterms:W3CDTF">2026-09-01T14:59:57Z</dcterms:created>
  <dcterms:modified xsi:type="dcterms:W3CDTF">2026-09-01T19:04:32Z</dcterms:modified>
</cp:coreProperties>
</file>