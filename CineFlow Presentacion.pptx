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09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3D0A18"/>
          </a:solidFill>
          <a:ln/>
        </p:spPr>
        <p:txBody>
          <a:bodyPr/>
          <a:lstStyle/>
          <a:p>
            <a:endParaRPr lang="es-AR" dirty="0"/>
          </a:p>
        </p:txBody>
      </p:sp>
      <p:pic>
        <p:nvPicPr>
          <p:cNvPr id="4" name="Image 0" descr="/home/claude/pitch/icons/pelicula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57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CINEFLOW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gestion para cines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0" y="1371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venta manual en boletería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 sistema de autoservicio y gestion.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552901" y="5609011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r>
              <a:rPr lang="en-US" sz="1600" b="1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Reyes, Gala y Pabon, Gabriel.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52901" y="6213763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Interactivas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A1330"/>
                </a:solidFill>
                <a:latin typeface="Calibri"/>
              </a:rPr>
              <a:t>TEMÁTICA ELEGIDA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914400"/>
            <a:ext cx="96012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</a:pPr>
            <a:r>
              <a:rPr sz="3000" b="1" dirty="0">
                <a:solidFill>
                  <a:srgbClr val="1C1C1C"/>
                </a:solidFill>
                <a:latin typeface="Cambria"/>
              </a:rPr>
              <a:t>De la </a:t>
            </a:r>
            <a:r>
              <a:rPr sz="3000" b="1" dirty="0" err="1">
                <a:solidFill>
                  <a:srgbClr val="1C1C1C"/>
                </a:solidFill>
                <a:latin typeface="Cambria"/>
              </a:rPr>
              <a:t>boletería</a:t>
            </a:r>
            <a:r>
              <a:rPr sz="3000" b="1" dirty="0">
                <a:solidFill>
                  <a:srgbClr val="1C1C1C"/>
                </a:solidFill>
                <a:latin typeface="Cambria"/>
              </a:rPr>
              <a:t> </a:t>
            </a:r>
            <a:r>
              <a:rPr sz="3000" b="1" dirty="0" err="1">
                <a:solidFill>
                  <a:srgbClr val="1C1C1C"/>
                </a:solidFill>
                <a:latin typeface="Cambria"/>
              </a:rPr>
              <a:t>tradicional</a:t>
            </a:r>
            <a:endParaRPr sz="3000" b="1" dirty="0">
              <a:solidFill>
                <a:srgbClr val="1C1C1C"/>
              </a:solidFill>
              <a:latin typeface="Cambria"/>
            </a:endParaRPr>
          </a:p>
          <a:p>
            <a:pPr>
              <a:lnSpc>
                <a:spcPct val="115000"/>
              </a:lnSpc>
            </a:pPr>
            <a:r>
              <a:rPr sz="3000" b="1" dirty="0">
                <a:solidFill>
                  <a:srgbClr val="1C1C1C"/>
                </a:solidFill>
                <a:latin typeface="Cambria"/>
              </a:rPr>
              <a:t>al </a:t>
            </a:r>
            <a:r>
              <a:rPr sz="3000" b="1" dirty="0" err="1">
                <a:solidFill>
                  <a:srgbClr val="1C1C1C"/>
                </a:solidFill>
                <a:latin typeface="Cambria"/>
              </a:rPr>
              <a:t>autoservicio</a:t>
            </a:r>
            <a:r>
              <a:rPr sz="3000" b="1" dirty="0">
                <a:solidFill>
                  <a:srgbClr val="1C1C1C"/>
                </a:solidFill>
                <a:latin typeface="Cambria"/>
              </a:rPr>
              <a:t> digital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28600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0120" y="2514600"/>
            <a:ext cx="685800" cy="685800"/>
          </a:xfrm>
          <a:prstGeom prst="ellipse">
            <a:avLst/>
          </a:prstGeom>
          <a:solidFill>
            <a:srgbClr val="9C9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adm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670048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828800" y="2606040"/>
            <a:ext cx="3840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1C1C1C"/>
                </a:solidFill>
                <a:latin typeface="Calibri"/>
              </a:rPr>
              <a:t>Antes: </a:t>
            </a:r>
            <a:r>
              <a:rPr sz="2400" b="1" i="0" dirty="0" err="1">
                <a:solidFill>
                  <a:srgbClr val="1C1C1C"/>
                </a:solidFill>
                <a:latin typeface="Calibri"/>
              </a:rPr>
              <a:t>comprar</a:t>
            </a:r>
            <a:r>
              <a:rPr sz="2400" b="1" i="0" dirty="0">
                <a:solidFill>
                  <a:srgbClr val="1C1C1C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C1C1C"/>
                </a:solidFill>
                <a:latin typeface="Calibri"/>
              </a:rPr>
              <a:t>en</a:t>
            </a:r>
            <a:r>
              <a:rPr sz="2400" b="1" i="0" dirty="0">
                <a:solidFill>
                  <a:srgbClr val="1C1C1C"/>
                </a:solidFill>
                <a:latin typeface="Calibri"/>
              </a:rPr>
              <a:t> persona</a:t>
            </a:r>
          </a:p>
        </p:txBody>
      </p:sp>
      <p:sp>
        <p:nvSpPr>
          <p:cNvPr id="27" name="Oval 26"/>
          <p:cNvSpPr/>
          <p:nvPr/>
        </p:nvSpPr>
        <p:spPr>
          <a:xfrm>
            <a:off x="960120" y="3337560"/>
            <a:ext cx="292608" cy="292608"/>
          </a:xfrm>
          <a:prstGeom prst="ellipse">
            <a:avLst/>
          </a:prstGeom>
          <a:solidFill>
            <a:srgbClr val="9C9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291840"/>
            <a:ext cx="4206240" cy="273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 dirty="0" err="1">
                <a:solidFill>
                  <a:srgbClr val="444444"/>
                </a:solidFill>
                <a:latin typeface="Calibri"/>
              </a:rPr>
              <a:t>Ibas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físicamente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hasta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cine y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hacías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fila</a:t>
            </a:r>
            <a:r>
              <a:rPr lang="es-AR" sz="1700" b="0" i="0" dirty="0">
                <a:solidFill>
                  <a:srgbClr val="444444"/>
                </a:solidFill>
                <a:latin typeface="Calibri"/>
              </a:rPr>
              <a:t>.</a:t>
            </a:r>
            <a:endParaRPr sz="17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60120" y="4041648"/>
            <a:ext cx="292608" cy="292608"/>
          </a:xfrm>
          <a:prstGeom prst="ellipse">
            <a:avLst/>
          </a:prstGeom>
          <a:solidFill>
            <a:srgbClr val="9C9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3981212"/>
            <a:ext cx="4206240" cy="561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 dirty="0">
                <a:solidFill>
                  <a:srgbClr val="444444"/>
                </a:solidFill>
                <a:latin typeface="Calibri"/>
              </a:rPr>
              <a:t>Un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empleado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usaba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su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propio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sistema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para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cargarte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compra</a:t>
            </a:r>
            <a:r>
              <a:rPr lang="es-AR" sz="17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dependías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él</a:t>
            </a:r>
            <a:r>
              <a:rPr lang="es-AR" sz="1700" b="0" i="0" dirty="0">
                <a:solidFill>
                  <a:srgbClr val="444444"/>
                </a:solidFill>
                <a:latin typeface="Calibri"/>
              </a:rPr>
              <a:t>.</a:t>
            </a:r>
            <a:endParaRPr sz="17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914400" y="4909220"/>
            <a:ext cx="292608" cy="292608"/>
          </a:xfrm>
          <a:prstGeom prst="ellipse">
            <a:avLst/>
          </a:prstGeom>
          <a:solidFill>
            <a:srgbClr val="9C9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6182" y="4880332"/>
            <a:ext cx="4206240" cy="561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 dirty="0">
                <a:solidFill>
                  <a:srgbClr val="444444"/>
                </a:solidFill>
                <a:latin typeface="Calibri"/>
              </a:rPr>
              <a:t>Si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llegabas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tarde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, la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función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ya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podía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estar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agotada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, y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te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volvías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a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tu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casa sin entrada</a:t>
            </a:r>
            <a:r>
              <a:rPr lang="es-AR" sz="1700" b="0" i="0" dirty="0">
                <a:solidFill>
                  <a:srgbClr val="444444"/>
                </a:solidFill>
                <a:latin typeface="Calibri"/>
              </a:rPr>
              <a:t>.</a:t>
            </a:r>
            <a:endParaRPr sz="17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69264" y="5705856"/>
            <a:ext cx="292608" cy="292608"/>
          </a:xfrm>
          <a:prstGeom prst="ellipse">
            <a:avLst/>
          </a:prstGeom>
          <a:solidFill>
            <a:srgbClr val="9C9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2" y="5734200"/>
            <a:ext cx="4206240" cy="273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 dirty="0" err="1">
                <a:solidFill>
                  <a:srgbClr val="444444"/>
                </a:solidFill>
                <a:latin typeface="Calibri"/>
              </a:rPr>
              <a:t>Te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llevabas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un ticket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físico</a:t>
            </a:r>
            <a:r>
              <a:rPr sz="17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700" b="0" i="0" dirty="0" err="1">
                <a:solidFill>
                  <a:srgbClr val="444444"/>
                </a:solidFill>
                <a:latin typeface="Calibri"/>
              </a:rPr>
              <a:t>papel</a:t>
            </a:r>
            <a:r>
              <a:rPr lang="es-AR" sz="1700" b="0" i="0" dirty="0">
                <a:solidFill>
                  <a:srgbClr val="444444"/>
                </a:solidFill>
                <a:latin typeface="Calibri"/>
              </a:rPr>
              <a:t>.</a:t>
            </a:r>
            <a:endParaRPr sz="17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309360" y="2299716"/>
            <a:ext cx="5394960" cy="3931920"/>
          </a:xfrm>
          <a:prstGeom prst="roundRect">
            <a:avLst>
              <a:gd name="adj" fmla="val 4000"/>
            </a:avLst>
          </a:prstGeom>
          <a:solidFill>
            <a:srgbClr val="7A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46520" y="2514600"/>
            <a:ext cx="685800" cy="68580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ticket_charco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670048"/>
            <a:ext cx="384048" cy="3840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15200" y="2606040"/>
            <a:ext cx="4526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Con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CineFlow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: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autoservicio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digital</a:t>
            </a:r>
          </a:p>
        </p:txBody>
      </p:sp>
      <p:sp>
        <p:nvSpPr>
          <p:cNvPr id="39" name="Oval 38"/>
          <p:cNvSpPr/>
          <p:nvPr/>
        </p:nvSpPr>
        <p:spPr>
          <a:xfrm>
            <a:off x="6446520" y="3337560"/>
            <a:ext cx="292608" cy="29260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C1C1C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291840"/>
            <a:ext cx="4480560" cy="561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 dirty="0">
                <a:solidFill>
                  <a:srgbClr val="F3EFE8"/>
                </a:solidFill>
                <a:latin typeface="Calibri"/>
              </a:rPr>
              <a:t>Hac</a:t>
            </a:r>
            <a:r>
              <a:rPr lang="es-AR" sz="1700" b="0" i="0" dirty="0">
                <a:solidFill>
                  <a:srgbClr val="F3EFE8"/>
                </a:solidFill>
                <a:latin typeface="Calibri"/>
              </a:rPr>
              <a:t>e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s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vos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mismo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,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desde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tu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computadora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o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celular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, lo que antes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hacía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el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empleado</a:t>
            </a:r>
            <a:r>
              <a:rPr lang="es-AR" sz="1700" b="0" i="0" dirty="0">
                <a:solidFill>
                  <a:srgbClr val="F3EFE8"/>
                </a:solidFill>
                <a:latin typeface="Calibri"/>
              </a:rPr>
              <a:t>.</a:t>
            </a:r>
            <a:endParaRPr sz="1700" b="0" i="0" dirty="0">
              <a:solidFill>
                <a:srgbClr val="F3EFE8"/>
              </a:solidFill>
              <a:latin typeface="Calibri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446520" y="4178808"/>
            <a:ext cx="292608" cy="29260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C1C1C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133088"/>
            <a:ext cx="4480560" cy="561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 dirty="0" err="1">
                <a:solidFill>
                  <a:srgbClr val="F3EFE8"/>
                </a:solidFill>
                <a:latin typeface="Calibri"/>
              </a:rPr>
              <a:t>Elegís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función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sin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depender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de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otra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persona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ni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de un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horario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de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atención</a:t>
            </a:r>
            <a:r>
              <a:rPr lang="es-AR" sz="1700" b="0" i="0" dirty="0">
                <a:solidFill>
                  <a:srgbClr val="F3EFE8"/>
                </a:solidFill>
                <a:latin typeface="Calibri"/>
              </a:rPr>
              <a:t>.</a:t>
            </a:r>
            <a:endParaRPr sz="1700" b="0" i="0" dirty="0">
              <a:solidFill>
                <a:srgbClr val="F3EFE8"/>
              </a:solidFill>
              <a:latin typeface="Calibri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6446520" y="5020056"/>
            <a:ext cx="292608" cy="29260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C1C1C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974336"/>
            <a:ext cx="4480560" cy="561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 dirty="0">
                <a:solidFill>
                  <a:srgbClr val="F3EFE8"/>
                </a:solidFill>
                <a:latin typeface="Calibri"/>
              </a:rPr>
              <a:t>Ves al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instante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si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quedan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entradas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disponibles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, sin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viajar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para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enterarte</a:t>
            </a:r>
            <a:r>
              <a:rPr lang="es-AR" sz="1700" b="0" i="0" dirty="0">
                <a:solidFill>
                  <a:srgbClr val="F3EFE8"/>
                </a:solidFill>
                <a:latin typeface="Calibri"/>
              </a:rPr>
              <a:t>.</a:t>
            </a:r>
            <a:endParaRPr sz="1700" b="0" i="0" dirty="0">
              <a:solidFill>
                <a:srgbClr val="F3EFE8"/>
              </a:solidFill>
              <a:latin typeface="Calibri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446520" y="5861304"/>
            <a:ext cx="292608" cy="29260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C1C1C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679809"/>
            <a:ext cx="4480560" cy="561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 dirty="0">
                <a:solidFill>
                  <a:srgbClr val="F3EFE8"/>
                </a:solidFill>
                <a:latin typeface="Calibri"/>
              </a:rPr>
              <a:t>Tu ticket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queda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guardado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en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el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celular</a:t>
            </a:r>
            <a:r>
              <a:rPr lang="es-AR" sz="1700" dirty="0">
                <a:solidFill>
                  <a:srgbClr val="F3EFE8"/>
                </a:solidFill>
                <a:latin typeface="Calibri"/>
              </a:rPr>
              <a:t>,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no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hace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falta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3EFE8"/>
                </a:solidFill>
                <a:latin typeface="Calibri"/>
              </a:rPr>
              <a:t>imprimir</a:t>
            </a:r>
            <a:r>
              <a:rPr sz="1700" b="0" i="0" dirty="0">
                <a:solidFill>
                  <a:srgbClr val="F3EFE8"/>
                </a:solidFill>
                <a:latin typeface="Calibri"/>
              </a:rPr>
              <a:t> nada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RESUELVE LA APLICACIÓN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experiencias, un mismo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685800" cy="685800"/>
          </a:xfrm>
          <a:prstGeom prst="ellipse">
            <a:avLst/>
          </a:prstGeom>
          <a:solidFill>
            <a:srgbClr val="7A1330"/>
          </a:solidFill>
          <a:ln/>
        </p:spPr>
      </p:sp>
      <p:pic>
        <p:nvPicPr>
          <p:cNvPr id="6" name="Image 0" descr="/home/claude/pitch/icons/ti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2128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 del cliente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elige película, función y butaca desde una pantalla, carga los datos de su tarjeta y se lleva su entrada, sin pasar por boletería.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069080"/>
            <a:ext cx="320040" cy="320040"/>
          </a:xfrm>
          <a:prstGeom prst="rect">
            <a:avLst/>
          </a:prstGeom>
          <a:solidFill>
            <a:srgbClr val="7A13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17320" y="4069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película y función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4526280"/>
            <a:ext cx="320040" cy="320040"/>
          </a:xfrm>
          <a:prstGeom prst="rect">
            <a:avLst/>
          </a:prstGeom>
          <a:solidFill>
            <a:srgbClr val="7A13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17320" y="4526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butaca disponible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4983480"/>
            <a:ext cx="320040" cy="320040"/>
          </a:xfrm>
          <a:prstGeom prst="rect">
            <a:avLst/>
          </a:prstGeom>
          <a:solidFill>
            <a:srgbClr val="7A13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417320" y="4983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con tarjeta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0120" y="5440680"/>
            <a:ext cx="320040" cy="320040"/>
          </a:xfrm>
          <a:prstGeom prst="rect">
            <a:avLst/>
          </a:prstGeom>
          <a:solidFill>
            <a:srgbClr val="7A13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17320" y="5440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el ticket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2648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C1C1C"/>
          </a:solidFill>
          <a:ln/>
        </p:spPr>
      </p:sp>
      <p:sp>
        <p:nvSpPr>
          <p:cNvPr id="18" name="Shape 15"/>
          <p:cNvSpPr/>
          <p:nvPr/>
        </p:nvSpPr>
        <p:spPr>
          <a:xfrm>
            <a:off x="6446520" y="2057400"/>
            <a:ext cx="685800" cy="6858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9" name="Image 1" descr="/home/claude/pitch/icons/admin_charco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212848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administrativa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6446520" y="288036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administradores cargan películas, salas, funciones y productos del kiosco. Un administrador "padre" controla quién puede administrar el sistema.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446520" y="40690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903720" y="4069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y editar películas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446520" y="45262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903720" y="4526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funciones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446520" y="49834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903720" y="4983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el kiosco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446520" y="54406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903720" y="5440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nuevos admins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niveles de acceso, cada uno con su alcance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7A1330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19456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/home/claude/pitch/icons/cliente_charco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23774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entradas por autoservicio. Se registra solo, con usuario, contraseña y DNI.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5C1226"/>
          </a:solidFill>
          <a:ln/>
        </p:spPr>
      </p:sp>
      <p:sp>
        <p:nvSpPr>
          <p:cNvPr id="10" name="Shape 7"/>
          <p:cNvSpPr/>
          <p:nvPr/>
        </p:nvSpPr>
        <p:spPr>
          <a:xfrm>
            <a:off x="5783580" y="219456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/home/claude/pitch/icons/admin_charco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23774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3375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4800600" y="4089169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películas, salas, funciones y productos. Lo registra el admin padre.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C1C1C"/>
          </a:solidFill>
          <a:ln/>
        </p:spPr>
      </p:sp>
      <p:sp>
        <p:nvSpPr>
          <p:cNvPr id="15" name="Shape 11"/>
          <p:cNvSpPr/>
          <p:nvPr/>
        </p:nvSpPr>
        <p:spPr>
          <a:xfrm>
            <a:off x="9624060" y="219456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6" name="Image 2" descr="/home/claude/pitch/icons/admin_padre_charco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6940" y="23774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5433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"padre"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8641080" y="4155948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precargado con usuario y contraseña propios. Registra a los demás administradores.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PRINCIPALES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datos, en tres grupos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2B2B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7A1330"/>
          </a:solidFill>
          <a:ln/>
        </p:spPr>
      </p:sp>
      <p:pic>
        <p:nvPicPr>
          <p:cNvPr id="6" name="Image 0" descr="/home/claude/pitch/icons/client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2311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(base)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3355848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538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3922776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1056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14400" y="4489704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2B2B2B"/>
          </a:solidFill>
          <a:ln/>
        </p:spPr>
      </p:sp>
      <p:sp>
        <p:nvSpPr>
          <p:cNvPr id="15" name="Shape 12"/>
          <p:cNvSpPr/>
          <p:nvPr/>
        </p:nvSpPr>
        <p:spPr>
          <a:xfrm>
            <a:off x="4754880" y="2103120"/>
            <a:ext cx="594360" cy="594360"/>
          </a:xfrm>
          <a:prstGeom prst="ellipse">
            <a:avLst/>
          </a:prstGeom>
          <a:solidFill>
            <a:srgbClr val="7A1330"/>
          </a:solidFill>
          <a:ln/>
        </p:spPr>
      </p:sp>
      <p:pic>
        <p:nvPicPr>
          <p:cNvPr id="16" name="Image 1" descr="/home/claude/pitch/icons/pelicula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231136"/>
            <a:ext cx="338328" cy="3383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75488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Película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754880" y="3355848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0" y="3538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754880" y="3922776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54880" y="41056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Butaca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754880" y="4489704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24" name="Text 20"/>
          <p:cNvSpPr/>
          <p:nvPr/>
        </p:nvSpPr>
        <p:spPr>
          <a:xfrm>
            <a:off x="4754880" y="46725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754880" y="5056632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2104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2B2B2B"/>
          </a:solidFill>
          <a:ln/>
        </p:spPr>
      </p:sp>
      <p:sp>
        <p:nvSpPr>
          <p:cNvPr id="27" name="Shape 23"/>
          <p:cNvSpPr/>
          <p:nvPr/>
        </p:nvSpPr>
        <p:spPr>
          <a:xfrm>
            <a:off x="8595360" y="2103120"/>
            <a:ext cx="594360" cy="594360"/>
          </a:xfrm>
          <a:prstGeom prst="ellipse">
            <a:avLst/>
          </a:prstGeom>
          <a:solidFill>
            <a:srgbClr val="7A1330"/>
          </a:solidFill>
          <a:ln/>
        </p:spPr>
      </p:sp>
      <p:pic>
        <p:nvPicPr>
          <p:cNvPr id="28" name="Image 2" descr="/home/claude/pitch/icons/reserva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2231136"/>
            <a:ext cx="338328" cy="33832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32688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859536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8595360" y="3355848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32" name="Text 27"/>
          <p:cNvSpPr/>
          <p:nvPr/>
        </p:nvSpPr>
        <p:spPr>
          <a:xfrm>
            <a:off x="8595360" y="3538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8595360" y="3922776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595360" y="41056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8595360" y="4489704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relaciona Película + Sala. Ticket relaciona Función + Butaca + Reserva. </a:t>
            </a:r>
            <a:r>
              <a:rPr lang="en-US" sz="1500" i="1" dirty="0" err="1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r>
              <a:rPr lang="en-US" sz="1500" i="1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(conjunto de tickets) pertenece a un Cliente.</a:t>
            </a:r>
            <a:endParaRPr lang="en-US" sz="1500" dirty="0"/>
          </a:p>
        </p:txBody>
      </p:sp>
      <p:sp>
        <p:nvSpPr>
          <p:cNvPr id="38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IMPLEMENTAMOS EL CRUD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en capas: Spring Boot + JPA + MySQL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7A1330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5" name="Text 3"/>
          <p:cNvSpPr/>
          <p:nvPr/>
        </p:nvSpPr>
        <p:spPr>
          <a:xfrm>
            <a:off x="725424" y="219954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25424" y="2607703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MX" sz="1400" dirty="0">
                <a:solidFill>
                  <a:schemeClr val="bg1"/>
                </a:solidFill>
              </a:rPr>
              <a:t>Captura la acción del cliente cuando elige comprar una entrada para "El Padrino"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172968" y="2679192"/>
            <a:ext cx="219456" cy="219456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8" name="Shape 6"/>
          <p:cNvSpPr/>
          <p:nvPr/>
        </p:nvSpPr>
        <p:spPr>
          <a:xfrm>
            <a:off x="3410712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3524596" y="2144129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86081" y="2628761"/>
            <a:ext cx="2642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MX" sz="1400" dirty="0">
                <a:solidFill>
                  <a:schemeClr val="bg1"/>
                </a:solidFill>
              </a:rPr>
              <a:t> Verifica en tiempo real que la butaca "C4" esté libre y suma el precio del combo de pochoclos al total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0" y="2679192"/>
            <a:ext cx="219456" cy="219456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1344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7A1330"/>
          </a:solidFill>
          <a:ln/>
        </p:spPr>
      </p:sp>
      <p:sp>
        <p:nvSpPr>
          <p:cNvPr id="13" name="Text 11"/>
          <p:cNvSpPr/>
          <p:nvPr/>
        </p:nvSpPr>
        <p:spPr>
          <a:xfrm>
            <a:off x="6345936" y="2144129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7648" y="2509889"/>
            <a:ext cx="21854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MX" sz="1400" dirty="0">
                <a:solidFill>
                  <a:schemeClr val="bg1"/>
                </a:solidFill>
              </a:rPr>
              <a:t>Inserta el recibo final de la venta en la base de datos sin necesidad de escribir código SQL manual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714232" y="2679192"/>
            <a:ext cx="219456" cy="219456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16" name="Shape 14"/>
          <p:cNvSpPr/>
          <p:nvPr/>
        </p:nvSpPr>
        <p:spPr>
          <a:xfrm>
            <a:off x="9037320" y="2128889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C1C1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9116568" y="226771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16568" y="2565308"/>
            <a:ext cx="2606040" cy="86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pelicula</a:t>
            </a: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1400" dirty="0" err="1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</a:t>
            </a: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unicamente</a:t>
            </a: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</a:t>
            </a: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</a:t>
            </a: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</a:t>
            </a: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operaciones CRUD, mapeadas a este flujo: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EFE8"/>
          </a:solidFill>
          <a:ln/>
        </p:spPr>
      </p:sp>
      <p:pic>
        <p:nvPicPr>
          <p:cNvPr id="21" name="Image 0" descr="/home/claude/pitch/icons/create_maro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8056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80160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2296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película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429000" y="4297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EFE8"/>
          </a:solidFill>
          <a:ln/>
        </p:spPr>
      </p:sp>
      <p:pic>
        <p:nvPicPr>
          <p:cNvPr id="25" name="Image 1" descr="/home/claude/pitch/icons/read_mar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448056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069080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361188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 la cartelera, buscar una función por código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217920" y="4297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EFE8"/>
          </a:solidFill>
          <a:ln/>
        </p:spPr>
      </p:sp>
      <p:pic>
        <p:nvPicPr>
          <p:cNvPr id="29" name="Image 2" descr="/home/claude/pitch/icons/update_maro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480560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858000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000" dirty="0"/>
          </a:p>
        </p:txBody>
      </p:sp>
      <p:sp>
        <p:nvSpPr>
          <p:cNvPr id="31" name="Text 26"/>
          <p:cNvSpPr/>
          <p:nvPr/>
        </p:nvSpPr>
        <p:spPr>
          <a:xfrm>
            <a:off x="640080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película, descontar stock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9006840" y="4297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EFE8"/>
          </a:solidFill>
          <a:ln/>
        </p:spPr>
      </p:sp>
      <p:pic>
        <p:nvPicPr>
          <p:cNvPr id="33" name="Image 3" descr="/home/claude/pitch/icons/delete_maro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448056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646920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18972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producto, cancelar una reserva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puede hacer cada rol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78923"/>
              </p:ext>
            </p:extLst>
          </p:nvPr>
        </p:nvGraphicFramePr>
        <p:xfrm>
          <a:off x="640080" y="1737360"/>
          <a:ext cx="10881360" cy="420624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padre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Registrarse / iniciar sesión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precargado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cartelera y funciones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Comprar entrada (autoservicio)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Cargar película / sala / función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productos del kiosco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nuevos administradores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Cancelar una reserva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(propia)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DESTACADO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Comprar una entrada por autoservicio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/home/claude/pitch/icons/pelicula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29260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886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película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4672" y="44805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Cartelera con funciones disponibles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64408" y="3611880"/>
            <a:ext cx="182880" cy="274320"/>
          </a:xfrm>
          <a:prstGeom prst="rightArrow">
            <a:avLst/>
          </a:prstGeom>
          <a:solidFill>
            <a:srgbClr val="D4AF37"/>
          </a:solidFill>
          <a:ln/>
        </p:spPr>
      </p:sp>
      <p:sp>
        <p:nvSpPr>
          <p:cNvPr id="10" name="Shape 7"/>
          <p:cNvSpPr/>
          <p:nvPr/>
        </p:nvSpPr>
        <p:spPr>
          <a:xfrm>
            <a:off x="3465576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2B2B"/>
          </a:solidFill>
          <a:ln/>
        </p:spPr>
      </p:sp>
      <p:sp>
        <p:nvSpPr>
          <p:cNvPr id="11" name="Text 8"/>
          <p:cNvSpPr/>
          <p:nvPr/>
        </p:nvSpPr>
        <p:spPr>
          <a:xfrm>
            <a:off x="364845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/home/claude/pitch/icons/ticke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836" y="292608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0168" y="3886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función y butaca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630168" y="44805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 disponibilidad en tiempo real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089904" y="3611880"/>
            <a:ext cx="182880" cy="274320"/>
          </a:xfrm>
          <a:prstGeom prst="rightArrow">
            <a:avLst/>
          </a:prstGeom>
          <a:solidFill>
            <a:srgbClr val="D4AF37"/>
          </a:solidFill>
          <a:ln/>
        </p:spPr>
      </p:sp>
      <p:sp>
        <p:nvSpPr>
          <p:cNvPr id="16" name="Shape 12"/>
          <p:cNvSpPr/>
          <p:nvPr/>
        </p:nvSpPr>
        <p:spPr>
          <a:xfrm>
            <a:off x="6291072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2B2B"/>
          </a:solidFill>
          <a:ln/>
        </p:spPr>
      </p:sp>
      <p:sp>
        <p:nvSpPr>
          <p:cNvPr id="17" name="Text 13"/>
          <p:cNvSpPr/>
          <p:nvPr/>
        </p:nvSpPr>
        <p:spPr>
          <a:xfrm>
            <a:off x="647395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525512" y="230428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4A3A12"/>
          </a:solidFill>
          <a:ln/>
        </p:spPr>
      </p:sp>
      <p:sp>
        <p:nvSpPr>
          <p:cNvPr id="19" name="Text 15"/>
          <p:cNvSpPr/>
          <p:nvPr/>
        </p:nvSpPr>
        <p:spPr>
          <a:xfrm>
            <a:off x="7525512" y="23042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900" dirty="0"/>
          </a:p>
        </p:txBody>
      </p:sp>
      <p:pic>
        <p:nvPicPr>
          <p:cNvPr id="20" name="Image 2" descr="/home/claude/pitch/icons/tarjeta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8332" y="2926080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55664" y="3886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datos de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6455664" y="44805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implementar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915400" y="3611880"/>
            <a:ext cx="182880" cy="274320"/>
          </a:xfrm>
          <a:prstGeom prst="rightArrow">
            <a:avLst/>
          </a:prstGeom>
          <a:solidFill>
            <a:srgbClr val="D4AF37"/>
          </a:solidFill>
          <a:ln/>
        </p:spPr>
      </p:sp>
      <p:sp>
        <p:nvSpPr>
          <p:cNvPr id="24" name="Shape 19"/>
          <p:cNvSpPr/>
          <p:nvPr/>
        </p:nvSpPr>
        <p:spPr>
          <a:xfrm>
            <a:off x="9116568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2B2B"/>
          </a:solidFill>
          <a:ln/>
        </p:spPr>
      </p:sp>
      <p:sp>
        <p:nvSpPr>
          <p:cNvPr id="25" name="Text 20"/>
          <p:cNvSpPr/>
          <p:nvPr/>
        </p:nvSpPr>
        <p:spPr>
          <a:xfrm>
            <a:off x="92994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/home/claude/pitch/icons/reserva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828" y="2926080"/>
            <a:ext cx="731520" cy="7315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81160" y="3886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reserva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9281160" y="44805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la Reserva y sus Tickets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verificación de butaca disponible ya funciona: nunca se vende dos veces el mismo asiento. El cobro con tarjeta es el próximo paso a integrar.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3D0A18"/>
          </a:solidFill>
          <a:ln/>
        </p:spPr>
      </p:sp>
      <p:pic>
        <p:nvPicPr>
          <p:cNvPr id="4" name="Image 0" descr="/home/claude/pitch/icons/pelicula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39142"/>
            <a:ext cx="1518458" cy="15184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2850" y="3588327"/>
            <a:ext cx="4635731" cy="105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688</Words>
  <Application>Microsoft Office PowerPoint</Application>
  <PresentationFormat>Panorámica</PresentationFormat>
  <Paragraphs>159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REYES Y RAMOS GALA MACARENA</cp:lastModifiedBy>
  <cp:revision>9</cp:revision>
  <dcterms:created xsi:type="dcterms:W3CDTF">2026-09-01T14:59:57Z</dcterms:created>
  <dcterms:modified xsi:type="dcterms:W3CDTF">2026-09-02T14:31:46Z</dcterms:modified>
</cp:coreProperties>
</file>